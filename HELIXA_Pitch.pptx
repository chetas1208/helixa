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61E5ED"/>
          </a:solidFill>
          <a:ln w="12700">
            <a:solidFill>
              <a:srgbClr val="61E5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004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61E5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 E L I X 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0" y="310896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4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/ 07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950976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5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Genomes are readable. Their consequences are not.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658368" y="1719072"/>
            <a:ext cx="10607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A4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gap between sequence data, anatomy, and explainable evolution.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6428232"/>
            <a:ext cx="10881360" cy="0"/>
          </a:xfrm>
          <a:prstGeom prst="line">
            <a:avLst/>
          </a:prstGeom>
          <a:noFill/>
          <a:ln w="12700">
            <a:solidFill>
              <a:srgbClr val="2943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649224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30" kern="0" dirty="0">
                <a:solidFill>
                  <a:srgbClr val="A4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LIVING GENOME STUDIO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5800" y="2331720"/>
            <a:ext cx="6675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5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single edit can be precise. Its biological meaning rarely is.</a:t>
            </a:r>
            <a:endParaRPr lang="en-US" sz="2500" dirty="0"/>
          </a:p>
        </p:txBody>
      </p:sp>
      <p:sp>
        <p:nvSpPr>
          <p:cNvPr id="10" name="Shape 8"/>
          <p:cNvSpPr/>
          <p:nvPr/>
        </p:nvSpPr>
        <p:spPr>
          <a:xfrm>
            <a:off x="685800" y="3310128"/>
            <a:ext cx="3383280" cy="2039112"/>
          </a:xfrm>
          <a:prstGeom prst="roundRect">
            <a:avLst>
              <a:gd name="adj" fmla="val 7175"/>
            </a:avLst>
          </a:prstGeom>
          <a:solidFill>
            <a:srgbClr val="112238"/>
          </a:solidFill>
          <a:ln w="12700">
            <a:solidFill>
              <a:srgbClr val="1122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3310128"/>
            <a:ext cx="59436" cy="2039112"/>
          </a:xfrm>
          <a:prstGeom prst="rect">
            <a:avLst/>
          </a:prstGeom>
          <a:solidFill>
            <a:srgbClr val="61E5ED"/>
          </a:solidFill>
          <a:ln w="12700">
            <a:solidFill>
              <a:srgbClr val="61E5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05256" y="3520440"/>
            <a:ext cx="29443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Fragmented tools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05256" y="4005072"/>
            <a:ext cx="29443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4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Genome browsers, tissue atlases, structure viewers and simulators rarely share one user journey.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224528" y="3310128"/>
            <a:ext cx="3383280" cy="2039112"/>
          </a:xfrm>
          <a:prstGeom prst="roundRect">
            <a:avLst>
              <a:gd name="adj" fmla="val 7175"/>
            </a:avLst>
          </a:prstGeom>
          <a:solidFill>
            <a:srgbClr val="112238"/>
          </a:solidFill>
          <a:ln w="12700">
            <a:solidFill>
              <a:srgbClr val="11223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24528" y="3310128"/>
            <a:ext cx="59436" cy="2039112"/>
          </a:xfrm>
          <a:prstGeom prst="rect">
            <a:avLst/>
          </a:prstGeom>
          <a:solidFill>
            <a:srgbClr val="B79BFF"/>
          </a:solidFill>
          <a:ln w="12700">
            <a:solidFill>
              <a:srgbClr val="B79B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43984" y="3520440"/>
            <a:ext cx="29443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Hard to explore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443984" y="4005072"/>
            <a:ext cx="29443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4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People start with body parts and questions, not chromosome coordinates or VCF syntax.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772400" y="3310128"/>
            <a:ext cx="3611880" cy="2039112"/>
          </a:xfrm>
          <a:prstGeom prst="roundRect">
            <a:avLst>
              <a:gd name="adj" fmla="val 7175"/>
            </a:avLst>
          </a:prstGeom>
          <a:solidFill>
            <a:srgbClr val="112238"/>
          </a:solidFill>
          <a:ln w="12700">
            <a:solidFill>
              <a:srgbClr val="11223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0" y="3310128"/>
            <a:ext cx="59436" cy="2039112"/>
          </a:xfrm>
          <a:prstGeom prst="rect">
            <a:avLst/>
          </a:prstGeom>
          <a:solidFill>
            <a:srgbClr val="F7C782"/>
          </a:solidFill>
          <a:ln w="12700">
            <a:solidFill>
              <a:srgbClr val="F7C7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91856" y="3520440"/>
            <a:ext cx="31729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Easy to overclaim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991856" y="4005072"/>
            <a:ext cx="31729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4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edited base does not automatically predict a new organ, phenotype or future organism.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61E5ED"/>
          </a:solidFill>
          <a:ln w="12700">
            <a:solidFill>
              <a:srgbClr val="61E5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004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61E5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 E L I X 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0" y="310896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4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/ 07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950976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5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science exists. The workflow is missing.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658368" y="1719072"/>
            <a:ext cx="10607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A4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sources support different claims and must remain distinguishable.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6428232"/>
            <a:ext cx="10881360" cy="0"/>
          </a:xfrm>
          <a:prstGeom prst="line">
            <a:avLst/>
          </a:prstGeom>
          <a:noFill/>
          <a:ln w="12700">
            <a:solidFill>
              <a:srgbClr val="2943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649224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30" kern="0" dirty="0">
                <a:solidFill>
                  <a:srgbClr val="A4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LIVING GENOME STUDIO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85800" y="2359152"/>
            <a:ext cx="5349240" cy="1344168"/>
          </a:xfrm>
          <a:prstGeom prst="roundRect">
            <a:avLst>
              <a:gd name="adj" fmla="val 10884"/>
            </a:avLst>
          </a:prstGeom>
          <a:solidFill>
            <a:srgbClr val="112238"/>
          </a:solidFill>
          <a:ln w="12700">
            <a:solidFill>
              <a:srgbClr val="11223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2359152"/>
            <a:ext cx="59436" cy="1344168"/>
          </a:xfrm>
          <a:prstGeom prst="rect">
            <a:avLst/>
          </a:prstGeom>
          <a:solidFill>
            <a:srgbClr val="61E5ED"/>
          </a:solidFill>
          <a:ln w="12700">
            <a:solidFill>
              <a:srgbClr val="61E5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05256" y="2569464"/>
            <a:ext cx="4910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GTEx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05256" y="3054096"/>
            <a:ext cx="49103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4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49 tissues / 838 donors  •  Tissue-specific regulation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81928" y="2359152"/>
            <a:ext cx="5349240" cy="1344168"/>
          </a:xfrm>
          <a:prstGeom prst="roundRect">
            <a:avLst>
              <a:gd name="adj" fmla="val 10884"/>
            </a:avLst>
          </a:prstGeom>
          <a:solidFill>
            <a:srgbClr val="112238"/>
          </a:solidFill>
          <a:ln w="12700">
            <a:solidFill>
              <a:srgbClr val="11223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81928" y="2359152"/>
            <a:ext cx="59436" cy="1344168"/>
          </a:xfrm>
          <a:prstGeom prst="rect">
            <a:avLst/>
          </a:prstGeom>
          <a:solidFill>
            <a:srgbClr val="61E5ED"/>
          </a:solidFill>
          <a:ln w="12700">
            <a:solidFill>
              <a:srgbClr val="61E5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01384" y="2569464"/>
            <a:ext cx="4910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Protein Atlas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501384" y="3054096"/>
            <a:ext cx="49103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4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 + cell expression  •  Where genes are expressed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85800" y="3904488"/>
            <a:ext cx="5349240" cy="1344168"/>
          </a:xfrm>
          <a:prstGeom prst="roundRect">
            <a:avLst>
              <a:gd name="adj" fmla="val 10884"/>
            </a:avLst>
          </a:prstGeom>
          <a:solidFill>
            <a:srgbClr val="112238"/>
          </a:solidFill>
          <a:ln w="12700">
            <a:solidFill>
              <a:srgbClr val="11223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" y="3904488"/>
            <a:ext cx="59436" cy="1344168"/>
          </a:xfrm>
          <a:prstGeom prst="rect">
            <a:avLst/>
          </a:prstGeom>
          <a:solidFill>
            <a:srgbClr val="61E5ED"/>
          </a:solidFill>
          <a:ln w="12700">
            <a:solidFill>
              <a:srgbClr val="61E5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5256" y="4114800"/>
            <a:ext cx="4910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Ensembl VEP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05256" y="4599432"/>
            <a:ext cx="49103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4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Variant consequences  •  What a sequence change overlaps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281928" y="3904488"/>
            <a:ext cx="5349240" cy="1344168"/>
          </a:xfrm>
          <a:prstGeom prst="roundRect">
            <a:avLst>
              <a:gd name="adj" fmla="val 10884"/>
            </a:avLst>
          </a:prstGeom>
          <a:solidFill>
            <a:srgbClr val="112238"/>
          </a:solidFill>
          <a:ln w="12700">
            <a:solidFill>
              <a:srgbClr val="11223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81928" y="3904488"/>
            <a:ext cx="59436" cy="1344168"/>
          </a:xfrm>
          <a:prstGeom prst="rect">
            <a:avLst/>
          </a:prstGeom>
          <a:solidFill>
            <a:srgbClr val="B79BFF"/>
          </a:solidFill>
          <a:ln w="12700">
            <a:solidFill>
              <a:srgbClr val="B79B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01384" y="4114800"/>
            <a:ext cx="4910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SLiM 5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501384" y="4599432"/>
            <a:ext cx="49103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4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Eco-evolutionary simulation  •  What a specified model can simulate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58952" y="5769864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C7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Expression ≠ causation    •    Association ≠ prediction    •    Simulation ≠ observed future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49808" y="6181344"/>
            <a:ext cx="10424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4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GTEx Science 2020; Human Protein Atlas; Ensembl VEP; SLiM 5 (2025).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61E5ED"/>
          </a:solidFill>
          <a:ln w="12700">
            <a:solidFill>
              <a:srgbClr val="61E5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004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61E5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 E L I X 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0" y="310896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4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/ 07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950976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5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evaluation problem: can we trust the change?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658368" y="1719072"/>
            <a:ext cx="10607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A4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independent questions must be answered before a result is believable.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6428232"/>
            <a:ext cx="10881360" cy="0"/>
          </a:xfrm>
          <a:prstGeom prst="line">
            <a:avLst/>
          </a:prstGeom>
          <a:noFill/>
          <a:ln w="12700">
            <a:solidFill>
              <a:srgbClr val="2943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649224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30" kern="0" dirty="0">
                <a:solidFill>
                  <a:srgbClr val="A4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LIVING GENOME STUDIO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2240280"/>
            <a:ext cx="10698480" cy="969264"/>
          </a:xfrm>
          <a:prstGeom prst="roundRect">
            <a:avLst>
              <a:gd name="adj" fmla="val 15094"/>
            </a:avLst>
          </a:prstGeom>
          <a:solidFill>
            <a:srgbClr val="112238"/>
          </a:solidFill>
          <a:ln w="12700">
            <a:solidFill>
              <a:srgbClr val="11223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41832" y="2514600"/>
            <a:ext cx="594360" cy="329184"/>
          </a:xfrm>
          <a:prstGeom prst="roundRect">
            <a:avLst>
              <a:gd name="adj" fmla="val 38889"/>
            </a:avLst>
          </a:prstGeom>
          <a:solidFill>
            <a:srgbClr val="0C1A2C"/>
          </a:solidFill>
          <a:ln w="12700">
            <a:solidFill>
              <a:srgbClr val="61E5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2564892"/>
            <a:ext cx="3749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61E5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874520" y="238658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5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Was the edit valid?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532120" y="2414016"/>
            <a:ext cx="5394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4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 FASTA, coordinates, REF/ALT, provenance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" y="3438144"/>
            <a:ext cx="10698480" cy="969264"/>
          </a:xfrm>
          <a:prstGeom prst="roundRect">
            <a:avLst>
              <a:gd name="adj" fmla="val 15094"/>
            </a:avLst>
          </a:prstGeom>
          <a:solidFill>
            <a:srgbClr val="112238"/>
          </a:solidFill>
          <a:ln w="12700">
            <a:solidFill>
              <a:srgbClr val="11223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41832" y="3712464"/>
            <a:ext cx="594360" cy="329184"/>
          </a:xfrm>
          <a:prstGeom prst="roundRect">
            <a:avLst>
              <a:gd name="adj" fmla="val 38889"/>
            </a:avLst>
          </a:prstGeom>
          <a:solidFill>
            <a:srgbClr val="0C1A2C"/>
          </a:solidFill>
          <a:ln w="12700">
            <a:solidFill>
              <a:srgbClr val="61E5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3762756"/>
            <a:ext cx="3749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61E5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874520" y="358444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5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Did the agent improve?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532120" y="3611880"/>
            <a:ext cx="5394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4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Parent vs candidate harness; protected tests; regressions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31520" y="4636008"/>
            <a:ext cx="10698480" cy="969264"/>
          </a:xfrm>
          <a:prstGeom prst="roundRect">
            <a:avLst>
              <a:gd name="adj" fmla="val 15094"/>
            </a:avLst>
          </a:prstGeom>
          <a:solidFill>
            <a:srgbClr val="112238"/>
          </a:solidFill>
          <a:ln w="12700">
            <a:solidFill>
              <a:srgbClr val="11223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1832" y="4910328"/>
            <a:ext cx="594360" cy="329184"/>
          </a:xfrm>
          <a:prstGeom prst="roundRect">
            <a:avLst>
              <a:gd name="adj" fmla="val 38889"/>
            </a:avLst>
          </a:prstGeom>
          <a:solidFill>
            <a:srgbClr val="0C1A2C"/>
          </a:solidFill>
          <a:ln w="12700">
            <a:solidFill>
              <a:srgbClr val="B79B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51560" y="4960620"/>
            <a:ext cx="3749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B79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874520" y="47823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5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did evolution model?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532120" y="4809744"/>
            <a:ext cx="5394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4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Population assumptions, seeds, uncertainty, reproducibility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77240" y="6053328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7C7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synthetic success badges. No unverified phenotype morphs. No “AI says so” oracle.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61E5ED"/>
          </a:solidFill>
          <a:ln w="12700">
            <a:solidFill>
              <a:srgbClr val="61E5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004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61E5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 E L I X 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0" y="310896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4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/ 07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950976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5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HELIXA: explore, edit, evolve, prove.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658368" y="1719072"/>
            <a:ext cx="10607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A4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anatomy-first genome studio with one versioned research workspace.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6428232"/>
            <a:ext cx="10881360" cy="0"/>
          </a:xfrm>
          <a:prstGeom prst="line">
            <a:avLst/>
          </a:prstGeom>
          <a:noFill/>
          <a:ln w="12700">
            <a:solidFill>
              <a:srgbClr val="2943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649224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30" kern="0" dirty="0">
                <a:solidFill>
                  <a:srgbClr val="A4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LIVING GENOME STUDIO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9121140" y="2103120"/>
            <a:ext cx="0" cy="0"/>
          </a:xfrm>
          <a:prstGeom prst="line">
            <a:avLst/>
          </a:prstGeom>
          <a:noFill/>
          <a:ln w="17780">
            <a:solidFill>
              <a:srgbClr val="29435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070848" y="2052828"/>
            <a:ext cx="100584" cy="100584"/>
          </a:xfrm>
          <a:prstGeom prst="ellipse">
            <a:avLst/>
          </a:prstGeom>
          <a:solidFill>
            <a:srgbClr val="61E5ED"/>
          </a:solidFill>
          <a:ln w="12700">
            <a:solidFill>
              <a:srgbClr val="61E5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070848" y="2052828"/>
            <a:ext cx="100584" cy="100584"/>
          </a:xfrm>
          <a:prstGeom prst="ellipse">
            <a:avLst/>
          </a:prstGeom>
          <a:solidFill>
            <a:srgbClr val="B79BFF"/>
          </a:solidFill>
          <a:ln w="12700">
            <a:solidFill>
              <a:srgbClr val="B79B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33887" y="2293219"/>
            <a:ext cx="-1025494" cy="0"/>
          </a:xfrm>
          <a:prstGeom prst="line">
            <a:avLst/>
          </a:prstGeom>
          <a:noFill/>
          <a:ln w="17780">
            <a:solidFill>
              <a:srgbClr val="29435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583595" y="2242927"/>
            <a:ext cx="100584" cy="100584"/>
          </a:xfrm>
          <a:prstGeom prst="ellipse">
            <a:avLst/>
          </a:prstGeom>
          <a:solidFill>
            <a:srgbClr val="61E5ED"/>
          </a:solidFill>
          <a:ln w="12700">
            <a:solidFill>
              <a:srgbClr val="61E5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558101" y="2242927"/>
            <a:ext cx="100584" cy="100584"/>
          </a:xfrm>
          <a:prstGeom prst="ellipse">
            <a:avLst/>
          </a:prstGeom>
          <a:solidFill>
            <a:srgbClr val="B79BFF"/>
          </a:solidFill>
          <a:ln w="12700">
            <a:solidFill>
              <a:srgbClr val="B79B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950782" y="2483318"/>
            <a:ext cx="-1659285" cy="0"/>
          </a:xfrm>
          <a:prstGeom prst="line">
            <a:avLst/>
          </a:prstGeom>
          <a:noFill/>
          <a:ln w="17780">
            <a:solidFill>
              <a:srgbClr val="29435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900490" y="2433026"/>
            <a:ext cx="100584" cy="100584"/>
          </a:xfrm>
          <a:prstGeom prst="ellipse">
            <a:avLst/>
          </a:prstGeom>
          <a:solidFill>
            <a:srgbClr val="61E5ED"/>
          </a:solidFill>
          <a:ln w="12700">
            <a:solidFill>
              <a:srgbClr val="61E5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41206" y="2433026"/>
            <a:ext cx="100584" cy="100584"/>
          </a:xfrm>
          <a:prstGeom prst="ellipse">
            <a:avLst/>
          </a:prstGeom>
          <a:solidFill>
            <a:srgbClr val="B79BFF"/>
          </a:solidFill>
          <a:ln w="12700">
            <a:solidFill>
              <a:srgbClr val="B79B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950782" y="2673417"/>
            <a:ext cx="-1659285" cy="0"/>
          </a:xfrm>
          <a:prstGeom prst="line">
            <a:avLst/>
          </a:prstGeom>
          <a:noFill/>
          <a:ln w="17780">
            <a:solidFill>
              <a:srgbClr val="29435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900490" y="2623125"/>
            <a:ext cx="100584" cy="100584"/>
          </a:xfrm>
          <a:prstGeom prst="ellipse">
            <a:avLst/>
          </a:prstGeom>
          <a:solidFill>
            <a:srgbClr val="61E5ED"/>
          </a:solidFill>
          <a:ln w="12700">
            <a:solidFill>
              <a:srgbClr val="61E5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41206" y="2623125"/>
            <a:ext cx="100584" cy="100584"/>
          </a:xfrm>
          <a:prstGeom prst="ellipse">
            <a:avLst/>
          </a:prstGeom>
          <a:solidFill>
            <a:srgbClr val="B79BFF"/>
          </a:solidFill>
          <a:ln w="12700">
            <a:solidFill>
              <a:srgbClr val="B79B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633887" y="2863516"/>
            <a:ext cx="-1025494" cy="0"/>
          </a:xfrm>
          <a:prstGeom prst="line">
            <a:avLst/>
          </a:prstGeom>
          <a:noFill/>
          <a:ln w="17780">
            <a:solidFill>
              <a:srgbClr val="29435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83595" y="2813224"/>
            <a:ext cx="100584" cy="100584"/>
          </a:xfrm>
          <a:prstGeom prst="ellipse">
            <a:avLst/>
          </a:prstGeom>
          <a:solidFill>
            <a:srgbClr val="61E5ED"/>
          </a:solidFill>
          <a:ln w="12700">
            <a:solidFill>
              <a:srgbClr val="61E5E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558101" y="2813224"/>
            <a:ext cx="100584" cy="100584"/>
          </a:xfrm>
          <a:prstGeom prst="ellipse">
            <a:avLst/>
          </a:prstGeom>
          <a:solidFill>
            <a:srgbClr val="B79BFF"/>
          </a:solidFill>
          <a:ln w="12700">
            <a:solidFill>
              <a:srgbClr val="B79B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21140" y="3053615"/>
            <a:ext cx="0" cy="0"/>
          </a:xfrm>
          <a:prstGeom prst="line">
            <a:avLst/>
          </a:prstGeom>
          <a:noFill/>
          <a:ln w="17780">
            <a:solidFill>
              <a:srgbClr val="29435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70848" y="3003323"/>
            <a:ext cx="100584" cy="100584"/>
          </a:xfrm>
          <a:prstGeom prst="ellipse">
            <a:avLst/>
          </a:prstGeom>
          <a:solidFill>
            <a:srgbClr val="61E5ED"/>
          </a:solidFill>
          <a:ln w="12700">
            <a:solidFill>
              <a:srgbClr val="61E5E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070848" y="3003323"/>
            <a:ext cx="100584" cy="100584"/>
          </a:xfrm>
          <a:prstGeom prst="ellipse">
            <a:avLst/>
          </a:prstGeom>
          <a:solidFill>
            <a:srgbClr val="B79BFF"/>
          </a:solidFill>
          <a:ln w="12700">
            <a:solidFill>
              <a:srgbClr val="B79B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608393" y="3243714"/>
            <a:ext cx="1025494" cy="0"/>
          </a:xfrm>
          <a:prstGeom prst="line">
            <a:avLst/>
          </a:prstGeom>
          <a:noFill/>
          <a:ln w="17780">
            <a:solidFill>
              <a:srgbClr val="29435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558101" y="3193422"/>
            <a:ext cx="100584" cy="100584"/>
          </a:xfrm>
          <a:prstGeom prst="ellipse">
            <a:avLst/>
          </a:prstGeom>
          <a:solidFill>
            <a:srgbClr val="61E5ED"/>
          </a:solidFill>
          <a:ln w="12700">
            <a:solidFill>
              <a:srgbClr val="61E5E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583595" y="3193422"/>
            <a:ext cx="100584" cy="100584"/>
          </a:xfrm>
          <a:prstGeom prst="ellipse">
            <a:avLst/>
          </a:prstGeom>
          <a:solidFill>
            <a:srgbClr val="B79BFF"/>
          </a:solidFill>
          <a:ln w="12700">
            <a:solidFill>
              <a:srgbClr val="B79B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91498" y="3433813"/>
            <a:ext cx="1659285" cy="0"/>
          </a:xfrm>
          <a:prstGeom prst="line">
            <a:avLst/>
          </a:prstGeom>
          <a:noFill/>
          <a:ln w="17780">
            <a:solidFill>
              <a:srgbClr val="29435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41206" y="3383521"/>
            <a:ext cx="100584" cy="100584"/>
          </a:xfrm>
          <a:prstGeom prst="ellipse">
            <a:avLst/>
          </a:prstGeom>
          <a:solidFill>
            <a:srgbClr val="61E5ED"/>
          </a:solidFill>
          <a:ln w="12700">
            <a:solidFill>
              <a:srgbClr val="61E5E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900490" y="3383521"/>
            <a:ext cx="100584" cy="100584"/>
          </a:xfrm>
          <a:prstGeom prst="ellipse">
            <a:avLst/>
          </a:prstGeom>
          <a:solidFill>
            <a:srgbClr val="B79BFF"/>
          </a:solidFill>
          <a:ln w="12700">
            <a:solidFill>
              <a:srgbClr val="B79B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291498" y="3623912"/>
            <a:ext cx="1659285" cy="0"/>
          </a:xfrm>
          <a:prstGeom prst="line">
            <a:avLst/>
          </a:prstGeom>
          <a:noFill/>
          <a:ln w="17780">
            <a:solidFill>
              <a:srgbClr val="29435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241206" y="3573620"/>
            <a:ext cx="100584" cy="100584"/>
          </a:xfrm>
          <a:prstGeom prst="ellipse">
            <a:avLst/>
          </a:prstGeom>
          <a:solidFill>
            <a:srgbClr val="61E5ED"/>
          </a:solidFill>
          <a:ln w="12700">
            <a:solidFill>
              <a:srgbClr val="61E5E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900490" y="3573620"/>
            <a:ext cx="100584" cy="100584"/>
          </a:xfrm>
          <a:prstGeom prst="ellipse">
            <a:avLst/>
          </a:prstGeom>
          <a:solidFill>
            <a:srgbClr val="B79BFF"/>
          </a:solidFill>
          <a:ln w="12700">
            <a:solidFill>
              <a:srgbClr val="B79B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608393" y="3814011"/>
            <a:ext cx="1025494" cy="0"/>
          </a:xfrm>
          <a:prstGeom prst="line">
            <a:avLst/>
          </a:prstGeom>
          <a:noFill/>
          <a:ln w="17780">
            <a:solidFill>
              <a:srgbClr val="29435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558101" y="3763719"/>
            <a:ext cx="100584" cy="100584"/>
          </a:xfrm>
          <a:prstGeom prst="ellipse">
            <a:avLst/>
          </a:prstGeom>
          <a:solidFill>
            <a:srgbClr val="61E5ED"/>
          </a:solidFill>
          <a:ln w="12700">
            <a:solidFill>
              <a:srgbClr val="61E5E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583595" y="3763719"/>
            <a:ext cx="100584" cy="100584"/>
          </a:xfrm>
          <a:prstGeom prst="ellipse">
            <a:avLst/>
          </a:prstGeom>
          <a:solidFill>
            <a:srgbClr val="B79BFF"/>
          </a:solidFill>
          <a:ln w="12700">
            <a:solidFill>
              <a:srgbClr val="B79B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121140" y="4004109"/>
            <a:ext cx="0" cy="0"/>
          </a:xfrm>
          <a:prstGeom prst="line">
            <a:avLst/>
          </a:prstGeom>
          <a:noFill/>
          <a:ln w="17780">
            <a:solidFill>
              <a:srgbClr val="29435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070848" y="3953817"/>
            <a:ext cx="100584" cy="100584"/>
          </a:xfrm>
          <a:prstGeom prst="ellipse">
            <a:avLst/>
          </a:prstGeom>
          <a:solidFill>
            <a:srgbClr val="61E5ED"/>
          </a:solidFill>
          <a:ln w="12700">
            <a:solidFill>
              <a:srgbClr val="61E5E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070848" y="3953817"/>
            <a:ext cx="100584" cy="100584"/>
          </a:xfrm>
          <a:prstGeom prst="ellipse">
            <a:avLst/>
          </a:prstGeom>
          <a:solidFill>
            <a:srgbClr val="B79BFF"/>
          </a:solidFill>
          <a:ln w="12700">
            <a:solidFill>
              <a:srgbClr val="B79B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633887" y="4194208"/>
            <a:ext cx="-1025494" cy="0"/>
          </a:xfrm>
          <a:prstGeom prst="line">
            <a:avLst/>
          </a:prstGeom>
          <a:noFill/>
          <a:ln w="17780">
            <a:solidFill>
              <a:srgbClr val="29435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583595" y="4143916"/>
            <a:ext cx="100584" cy="100584"/>
          </a:xfrm>
          <a:prstGeom prst="ellipse">
            <a:avLst/>
          </a:prstGeom>
          <a:solidFill>
            <a:srgbClr val="61E5ED"/>
          </a:solidFill>
          <a:ln w="12700">
            <a:solidFill>
              <a:srgbClr val="61E5E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558101" y="4143916"/>
            <a:ext cx="100584" cy="100584"/>
          </a:xfrm>
          <a:prstGeom prst="ellipse">
            <a:avLst/>
          </a:prstGeom>
          <a:solidFill>
            <a:srgbClr val="B79BFF"/>
          </a:solidFill>
          <a:ln w="12700">
            <a:solidFill>
              <a:srgbClr val="B79B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950782" y="4384307"/>
            <a:ext cx="-1659285" cy="0"/>
          </a:xfrm>
          <a:prstGeom prst="line">
            <a:avLst/>
          </a:prstGeom>
          <a:noFill/>
          <a:ln w="17780">
            <a:solidFill>
              <a:srgbClr val="29435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900490" y="4334015"/>
            <a:ext cx="100584" cy="100584"/>
          </a:xfrm>
          <a:prstGeom prst="ellipse">
            <a:avLst/>
          </a:prstGeom>
          <a:solidFill>
            <a:srgbClr val="61E5ED"/>
          </a:solidFill>
          <a:ln w="12700">
            <a:solidFill>
              <a:srgbClr val="61E5ED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241206" y="4334015"/>
            <a:ext cx="100584" cy="100584"/>
          </a:xfrm>
          <a:prstGeom prst="ellipse">
            <a:avLst/>
          </a:prstGeom>
          <a:solidFill>
            <a:srgbClr val="B79BFF"/>
          </a:solidFill>
          <a:ln w="12700">
            <a:solidFill>
              <a:srgbClr val="B79B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950782" y="4574406"/>
            <a:ext cx="-1659285" cy="0"/>
          </a:xfrm>
          <a:prstGeom prst="line">
            <a:avLst/>
          </a:prstGeom>
          <a:noFill/>
          <a:ln w="17780">
            <a:solidFill>
              <a:srgbClr val="29435E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900490" y="4524114"/>
            <a:ext cx="100584" cy="100584"/>
          </a:xfrm>
          <a:prstGeom prst="ellipse">
            <a:avLst/>
          </a:prstGeom>
          <a:solidFill>
            <a:srgbClr val="61E5ED"/>
          </a:solidFill>
          <a:ln w="12700">
            <a:solidFill>
              <a:srgbClr val="61E5ED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241206" y="4524114"/>
            <a:ext cx="100584" cy="100584"/>
          </a:xfrm>
          <a:prstGeom prst="ellipse">
            <a:avLst/>
          </a:prstGeom>
          <a:solidFill>
            <a:srgbClr val="B79BFF"/>
          </a:solidFill>
          <a:ln w="12700">
            <a:solidFill>
              <a:srgbClr val="B79B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633887" y="4764505"/>
            <a:ext cx="-1025494" cy="0"/>
          </a:xfrm>
          <a:prstGeom prst="line">
            <a:avLst/>
          </a:prstGeom>
          <a:noFill/>
          <a:ln w="17780">
            <a:solidFill>
              <a:srgbClr val="29435E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583595" y="4714213"/>
            <a:ext cx="100584" cy="100584"/>
          </a:xfrm>
          <a:prstGeom prst="ellipse">
            <a:avLst/>
          </a:prstGeom>
          <a:solidFill>
            <a:srgbClr val="61E5ED"/>
          </a:solidFill>
          <a:ln w="12700">
            <a:solidFill>
              <a:srgbClr val="61E5ED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558101" y="4714213"/>
            <a:ext cx="100584" cy="100584"/>
          </a:xfrm>
          <a:prstGeom prst="ellipse">
            <a:avLst/>
          </a:prstGeom>
          <a:solidFill>
            <a:srgbClr val="B79BFF"/>
          </a:solidFill>
          <a:ln w="12700">
            <a:solidFill>
              <a:srgbClr val="B79BF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121140" y="4954604"/>
            <a:ext cx="0" cy="0"/>
          </a:xfrm>
          <a:prstGeom prst="line">
            <a:avLst/>
          </a:prstGeom>
          <a:noFill/>
          <a:ln w="17780">
            <a:solidFill>
              <a:srgbClr val="29435E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070848" y="4904312"/>
            <a:ext cx="100584" cy="100584"/>
          </a:xfrm>
          <a:prstGeom prst="ellipse">
            <a:avLst/>
          </a:prstGeom>
          <a:solidFill>
            <a:srgbClr val="61E5ED"/>
          </a:solidFill>
          <a:ln w="12700">
            <a:solidFill>
              <a:srgbClr val="61E5ED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070848" y="4904312"/>
            <a:ext cx="100584" cy="100584"/>
          </a:xfrm>
          <a:prstGeom prst="ellipse">
            <a:avLst/>
          </a:prstGeom>
          <a:solidFill>
            <a:srgbClr val="B79BFF"/>
          </a:solidFill>
          <a:ln w="12700">
            <a:solidFill>
              <a:srgbClr val="B79BF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608393" y="5144703"/>
            <a:ext cx="1025494" cy="0"/>
          </a:xfrm>
          <a:prstGeom prst="line">
            <a:avLst/>
          </a:prstGeom>
          <a:noFill/>
          <a:ln w="17780">
            <a:solidFill>
              <a:srgbClr val="29435E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558101" y="5094411"/>
            <a:ext cx="100584" cy="100584"/>
          </a:xfrm>
          <a:prstGeom prst="ellipse">
            <a:avLst/>
          </a:prstGeom>
          <a:solidFill>
            <a:srgbClr val="61E5ED"/>
          </a:solidFill>
          <a:ln w="12700">
            <a:solidFill>
              <a:srgbClr val="61E5ED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583595" y="5094411"/>
            <a:ext cx="100584" cy="100584"/>
          </a:xfrm>
          <a:prstGeom prst="ellipse">
            <a:avLst/>
          </a:prstGeom>
          <a:solidFill>
            <a:srgbClr val="B79BFF"/>
          </a:solidFill>
          <a:ln w="12700">
            <a:solidFill>
              <a:srgbClr val="B79BF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291498" y="5334802"/>
            <a:ext cx="1659285" cy="0"/>
          </a:xfrm>
          <a:prstGeom prst="line">
            <a:avLst/>
          </a:prstGeom>
          <a:noFill/>
          <a:ln w="17780">
            <a:solidFill>
              <a:srgbClr val="29435E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241206" y="5284510"/>
            <a:ext cx="100584" cy="100584"/>
          </a:xfrm>
          <a:prstGeom prst="ellipse">
            <a:avLst/>
          </a:prstGeom>
          <a:solidFill>
            <a:srgbClr val="61E5ED"/>
          </a:solidFill>
          <a:ln w="12700">
            <a:solidFill>
              <a:srgbClr val="61E5ED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9900490" y="5284510"/>
            <a:ext cx="100584" cy="100584"/>
          </a:xfrm>
          <a:prstGeom prst="ellipse">
            <a:avLst/>
          </a:prstGeom>
          <a:solidFill>
            <a:srgbClr val="B79BFF"/>
          </a:solidFill>
          <a:ln w="12700">
            <a:solidFill>
              <a:srgbClr val="B79BF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291498" y="5524901"/>
            <a:ext cx="1659285" cy="0"/>
          </a:xfrm>
          <a:prstGeom prst="line">
            <a:avLst/>
          </a:prstGeom>
          <a:noFill/>
          <a:ln w="17780">
            <a:solidFill>
              <a:srgbClr val="29435E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241206" y="5474609"/>
            <a:ext cx="100584" cy="100584"/>
          </a:xfrm>
          <a:prstGeom prst="ellipse">
            <a:avLst/>
          </a:prstGeom>
          <a:solidFill>
            <a:srgbClr val="61E5ED"/>
          </a:solidFill>
          <a:ln w="12700">
            <a:solidFill>
              <a:srgbClr val="61E5ED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900490" y="5474609"/>
            <a:ext cx="100584" cy="100584"/>
          </a:xfrm>
          <a:prstGeom prst="ellipse">
            <a:avLst/>
          </a:prstGeom>
          <a:solidFill>
            <a:srgbClr val="B79BFF"/>
          </a:solidFill>
          <a:ln w="12700">
            <a:solidFill>
              <a:srgbClr val="B79BFF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608393" y="5715000"/>
            <a:ext cx="1025494" cy="0"/>
          </a:xfrm>
          <a:prstGeom prst="line">
            <a:avLst/>
          </a:prstGeom>
          <a:noFill/>
          <a:ln w="17780">
            <a:solidFill>
              <a:srgbClr val="29435E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558101" y="5664708"/>
            <a:ext cx="100584" cy="100584"/>
          </a:xfrm>
          <a:prstGeom prst="ellipse">
            <a:avLst/>
          </a:prstGeom>
          <a:solidFill>
            <a:srgbClr val="61E5ED"/>
          </a:solidFill>
          <a:ln w="12700">
            <a:solidFill>
              <a:srgbClr val="61E5ED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9583595" y="5664708"/>
            <a:ext cx="100584" cy="100584"/>
          </a:xfrm>
          <a:prstGeom prst="ellipse">
            <a:avLst/>
          </a:prstGeom>
          <a:solidFill>
            <a:srgbClr val="B79BFF"/>
          </a:solidFill>
          <a:ln w="12700">
            <a:solidFill>
              <a:srgbClr val="B79BFF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31520" y="2276856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61E5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BODY → GENE → DNA</a:t>
            </a:r>
            <a:endParaRPr lang="en-US" sz="2400" dirty="0"/>
          </a:p>
        </p:txBody>
      </p:sp>
      <p:sp>
        <p:nvSpPr>
          <p:cNvPr id="70" name="Text 68"/>
          <p:cNvSpPr/>
          <p:nvPr/>
        </p:nvSpPr>
        <p:spPr>
          <a:xfrm>
            <a:off x="731520" y="2834640"/>
            <a:ext cx="6217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F5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an organ. Inspect sourced gene evidence. Propose a precise in-silico edit by text or voice.</a:t>
            </a:r>
            <a:endParaRPr lang="en-US" sz="1900" dirty="0"/>
          </a:p>
        </p:txBody>
      </p:sp>
      <p:sp>
        <p:nvSpPr>
          <p:cNvPr id="71" name="Text 69"/>
          <p:cNvSpPr/>
          <p:nvPr/>
        </p:nvSpPr>
        <p:spPr>
          <a:xfrm>
            <a:off x="731520" y="4133088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B79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 → SAVE → SIMULATE</a:t>
            </a:r>
            <a:endParaRPr lang="en-US" sz="2300" dirty="0"/>
          </a:p>
        </p:txBody>
      </p:sp>
      <p:sp>
        <p:nvSpPr>
          <p:cNvPr id="72" name="Text 70"/>
          <p:cNvSpPr/>
          <p:nvPr/>
        </p:nvSpPr>
        <p:spPr>
          <a:xfrm>
            <a:off x="731520" y="4718304"/>
            <a:ext cx="6217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5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Version the genome, evolve the research harness, and replay population-level scenarios.</a:t>
            </a:r>
            <a:endParaRPr lang="en-US" sz="1800" dirty="0"/>
          </a:p>
        </p:txBody>
      </p:sp>
      <p:sp>
        <p:nvSpPr>
          <p:cNvPr id="73" name="Shape 71"/>
          <p:cNvSpPr/>
          <p:nvPr/>
        </p:nvSpPr>
        <p:spPr>
          <a:xfrm>
            <a:off x="749808" y="5815584"/>
            <a:ext cx="1673352" cy="329184"/>
          </a:xfrm>
          <a:prstGeom prst="roundRect">
            <a:avLst>
              <a:gd name="adj" fmla="val 38889"/>
            </a:avLst>
          </a:prstGeom>
          <a:solidFill>
            <a:srgbClr val="0C1A2C"/>
          </a:solidFill>
          <a:ln w="12700">
            <a:solidFill>
              <a:srgbClr val="61E5ED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859536" y="5865876"/>
            <a:ext cx="1453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61E5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Evidence-linked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2606040" y="5815584"/>
            <a:ext cx="1965960" cy="329184"/>
          </a:xfrm>
          <a:prstGeom prst="roundRect">
            <a:avLst>
              <a:gd name="adj" fmla="val 38889"/>
            </a:avLst>
          </a:prstGeom>
          <a:solidFill>
            <a:srgbClr val="0C1A2C"/>
          </a:solidFill>
          <a:ln w="12700">
            <a:solidFill>
              <a:srgbClr val="F7C782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2715768" y="5865876"/>
            <a:ext cx="17465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7C7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Research-use only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61E5ED"/>
          </a:solidFill>
          <a:ln w="12700">
            <a:solidFill>
              <a:srgbClr val="61E5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004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61E5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 E L I X 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0" y="310896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4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/ 07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950976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5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workspace. Four connected experiences.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658368" y="1719072"/>
            <a:ext cx="10607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A4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Selecting a saved harness/workspace updates every view.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6428232"/>
            <a:ext cx="10881360" cy="0"/>
          </a:xfrm>
          <a:prstGeom prst="line">
            <a:avLst/>
          </a:prstGeom>
          <a:noFill/>
          <a:ln w="12700">
            <a:solidFill>
              <a:srgbClr val="2943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649224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30" kern="0" dirty="0">
                <a:solidFill>
                  <a:srgbClr val="A4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LIVING GENOME STUDIO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2258568"/>
            <a:ext cx="5349240" cy="1444752"/>
          </a:xfrm>
          <a:prstGeom prst="roundRect">
            <a:avLst>
              <a:gd name="adj" fmla="val 10127"/>
            </a:avLst>
          </a:prstGeom>
          <a:solidFill>
            <a:srgbClr val="112238"/>
          </a:solidFill>
          <a:ln w="12700">
            <a:solidFill>
              <a:srgbClr val="11223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32688" y="2478024"/>
            <a:ext cx="594360" cy="329184"/>
          </a:xfrm>
          <a:prstGeom prst="roundRect">
            <a:avLst>
              <a:gd name="adj" fmla="val 38889"/>
            </a:avLst>
          </a:prstGeom>
          <a:solidFill>
            <a:srgbClr val="0C1A2C"/>
          </a:solidFill>
          <a:ln w="12700">
            <a:solidFill>
              <a:srgbClr val="61E5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42416" y="2528316"/>
            <a:ext cx="3749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61E5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664208" y="2450592"/>
            <a:ext cx="4114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GENOME EDITOR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60120" y="3054096"/>
            <a:ext cx="4901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4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Body + DNA only. Text/voice proposals.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364224" y="2258568"/>
            <a:ext cx="5349240" cy="1444752"/>
          </a:xfrm>
          <a:prstGeom prst="roundRect">
            <a:avLst>
              <a:gd name="adj" fmla="val 10127"/>
            </a:avLst>
          </a:prstGeom>
          <a:solidFill>
            <a:srgbClr val="112238"/>
          </a:solidFill>
          <a:ln w="12700">
            <a:solidFill>
              <a:srgbClr val="11223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65392" y="2478024"/>
            <a:ext cx="594360" cy="329184"/>
          </a:xfrm>
          <a:prstGeom prst="roundRect">
            <a:avLst>
              <a:gd name="adj" fmla="val 38889"/>
            </a:avLst>
          </a:prstGeom>
          <a:solidFill>
            <a:srgbClr val="0C1A2C"/>
          </a:solidFill>
          <a:ln w="12700">
            <a:solidFill>
              <a:srgbClr val="61E5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0" y="2528316"/>
            <a:ext cx="3749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61E5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296912" y="2450592"/>
            <a:ext cx="4114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EVOLUTION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592824" y="3054096"/>
            <a:ext cx="4901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4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Genome edits and agent harness lineage.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31520" y="3904488"/>
            <a:ext cx="5349240" cy="1444752"/>
          </a:xfrm>
          <a:prstGeom prst="roundRect">
            <a:avLst>
              <a:gd name="adj" fmla="val 10127"/>
            </a:avLst>
          </a:prstGeom>
          <a:solidFill>
            <a:srgbClr val="112238"/>
          </a:solidFill>
          <a:ln w="12700">
            <a:solidFill>
              <a:srgbClr val="11223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32688" y="4123944"/>
            <a:ext cx="594360" cy="329184"/>
          </a:xfrm>
          <a:prstGeom prst="roundRect">
            <a:avLst>
              <a:gd name="adj" fmla="val 38889"/>
            </a:avLst>
          </a:prstGeom>
          <a:solidFill>
            <a:srgbClr val="0C1A2C"/>
          </a:solidFill>
          <a:ln w="12700">
            <a:solidFill>
              <a:srgbClr val="B79B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42416" y="4174236"/>
            <a:ext cx="3749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B79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664208" y="4096512"/>
            <a:ext cx="4114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EARTH SANDBOX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60120" y="4700016"/>
            <a:ext cx="4901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4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 to 2M modeled years → 60s replay.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364224" y="3904488"/>
            <a:ext cx="5349240" cy="1444752"/>
          </a:xfrm>
          <a:prstGeom prst="roundRect">
            <a:avLst>
              <a:gd name="adj" fmla="val 10127"/>
            </a:avLst>
          </a:prstGeom>
          <a:solidFill>
            <a:srgbClr val="112238"/>
          </a:solidFill>
          <a:ln w="12700">
            <a:solidFill>
              <a:srgbClr val="11223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65392" y="4123944"/>
            <a:ext cx="594360" cy="329184"/>
          </a:xfrm>
          <a:prstGeom prst="roundRect">
            <a:avLst>
              <a:gd name="adj" fmla="val 38889"/>
            </a:avLst>
          </a:prstGeom>
          <a:solidFill>
            <a:srgbClr val="0C1A2C"/>
          </a:solidFill>
          <a:ln w="12700">
            <a:solidFill>
              <a:srgbClr val="61E5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75120" y="4174236"/>
            <a:ext cx="3749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61E5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296912" y="4096512"/>
            <a:ext cx="4114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HARNESS LIBRARY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592824" y="4700016"/>
            <a:ext cx="4901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4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Save, branch, restore, activate.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114800" y="5779008"/>
            <a:ext cx="3977640" cy="384048"/>
          </a:xfrm>
          <a:prstGeom prst="roundRect">
            <a:avLst>
              <a:gd name="adj" fmla="val 23810"/>
            </a:avLst>
          </a:prstGeom>
          <a:solidFill>
            <a:srgbClr val="0C1A2C"/>
          </a:solidFill>
          <a:ln w="12700">
            <a:solidFill>
              <a:srgbClr val="61E5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79392" y="5833872"/>
            <a:ext cx="3675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1E5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ACTIVE WORKSPACE ID = SINGLE SOURCE OF TRUTH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61E5ED"/>
          </a:solidFill>
          <a:ln w="12700">
            <a:solidFill>
              <a:srgbClr val="61E5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004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61E5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 E L I X 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0" y="310896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4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/ 07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950976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5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live proof: one edit, one evolutionary experiment.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658368" y="1719072"/>
            <a:ext cx="10607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A4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protocol and acceptance gates. Results must be measured, not invented.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6428232"/>
            <a:ext cx="10881360" cy="0"/>
          </a:xfrm>
          <a:prstGeom prst="line">
            <a:avLst/>
          </a:prstGeom>
          <a:noFill/>
          <a:ln w="12700">
            <a:solidFill>
              <a:srgbClr val="2943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649224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30" kern="0" dirty="0">
                <a:solidFill>
                  <a:srgbClr val="A4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LIVING GENOME STUDIO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58952" y="2176272"/>
            <a:ext cx="457200" cy="329184"/>
          </a:xfrm>
          <a:prstGeom prst="roundRect">
            <a:avLst>
              <a:gd name="adj" fmla="val 38889"/>
            </a:avLst>
          </a:prstGeom>
          <a:solidFill>
            <a:srgbClr val="0C1A2C"/>
          </a:solidFill>
          <a:ln w="12700">
            <a:solidFill>
              <a:srgbClr val="61E5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226564"/>
            <a:ext cx="2377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61E5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444752" y="2157984"/>
            <a:ext cx="2999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5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heart / hand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99432" y="2157984"/>
            <a:ext cx="6510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4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 body part → tissue evidence → gene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87552" y="2523744"/>
            <a:ext cx="0" cy="310896"/>
          </a:xfrm>
          <a:prstGeom prst="line">
            <a:avLst/>
          </a:prstGeom>
          <a:noFill/>
          <a:ln w="15240">
            <a:solidFill>
              <a:srgbClr val="29435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58952" y="2880360"/>
            <a:ext cx="457200" cy="329184"/>
          </a:xfrm>
          <a:prstGeom prst="roundRect">
            <a:avLst>
              <a:gd name="adj" fmla="val 38889"/>
            </a:avLst>
          </a:prstGeom>
          <a:solidFill>
            <a:srgbClr val="0C1A2C"/>
          </a:solidFill>
          <a:ln w="12700">
            <a:solidFill>
              <a:srgbClr val="61E5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2930652"/>
            <a:ext cx="2377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61E5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444752" y="2862072"/>
            <a:ext cx="2999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5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Propose an edit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99432" y="2862072"/>
            <a:ext cx="6510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4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 REF/ALT and preserve baseline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87552" y="3227832"/>
            <a:ext cx="0" cy="310896"/>
          </a:xfrm>
          <a:prstGeom prst="line">
            <a:avLst/>
          </a:prstGeom>
          <a:noFill/>
          <a:ln w="15240">
            <a:solidFill>
              <a:srgbClr val="29435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584448"/>
            <a:ext cx="457200" cy="329184"/>
          </a:xfrm>
          <a:prstGeom prst="roundRect">
            <a:avLst>
              <a:gd name="adj" fmla="val 38889"/>
            </a:avLst>
          </a:prstGeom>
          <a:solidFill>
            <a:srgbClr val="0C1A2C"/>
          </a:solidFill>
          <a:ln w="12700">
            <a:solidFill>
              <a:srgbClr val="61E5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3634740"/>
            <a:ext cx="2377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61E5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444752" y="3566160"/>
            <a:ext cx="2999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5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Evolve the harness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599432" y="3566160"/>
            <a:ext cx="6510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4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parent/candidate under independent tests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987552" y="3931920"/>
            <a:ext cx="0" cy="310896"/>
          </a:xfrm>
          <a:prstGeom prst="line">
            <a:avLst/>
          </a:prstGeom>
          <a:noFill/>
          <a:ln w="15240">
            <a:solidFill>
              <a:srgbClr val="29435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58952" y="4288536"/>
            <a:ext cx="457200" cy="329184"/>
          </a:xfrm>
          <a:prstGeom prst="roundRect">
            <a:avLst>
              <a:gd name="adj" fmla="val 38889"/>
            </a:avLst>
          </a:prstGeom>
          <a:solidFill>
            <a:srgbClr val="0C1A2C"/>
          </a:solidFill>
          <a:ln w="12700">
            <a:solidFill>
              <a:srgbClr val="61E5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4338828"/>
            <a:ext cx="2377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61E5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444752" y="4270248"/>
            <a:ext cx="2999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5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Earth sandbox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599432" y="4270248"/>
            <a:ext cx="6510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4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Seeded replicates, selection/drift, uncertainty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987552" y="4636008"/>
            <a:ext cx="0" cy="310896"/>
          </a:xfrm>
          <a:prstGeom prst="line">
            <a:avLst/>
          </a:prstGeom>
          <a:noFill/>
          <a:ln w="15240">
            <a:solidFill>
              <a:srgbClr val="29435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992624"/>
            <a:ext cx="457200" cy="329184"/>
          </a:xfrm>
          <a:prstGeom prst="roundRect">
            <a:avLst>
              <a:gd name="adj" fmla="val 38889"/>
            </a:avLst>
          </a:prstGeom>
          <a:solidFill>
            <a:srgbClr val="0C1A2C"/>
          </a:solidFill>
          <a:ln w="12700">
            <a:solidFill>
              <a:srgbClr val="B79B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68680" y="5042916"/>
            <a:ext cx="2377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B79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444752" y="4974336"/>
            <a:ext cx="2999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5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Replay and inspect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599432" y="4974336"/>
            <a:ext cx="6510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4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60s visualization + saved evidence receipts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740664" y="5888736"/>
            <a:ext cx="10698480" cy="356616"/>
          </a:xfrm>
          <a:prstGeom prst="roundRect">
            <a:avLst>
              <a:gd name="adj" fmla="val 25641"/>
            </a:avLst>
          </a:prstGeom>
          <a:solidFill>
            <a:srgbClr val="0C1A2C"/>
          </a:solidFill>
          <a:ln w="12700">
            <a:solidFill>
              <a:srgbClr val="69D8A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05256" y="5925312"/>
            <a:ext cx="10378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9D8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EVALUATE: edit correctness  •  false positives  •  held-out transfer  •  reproducibility  •  crash recovery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61E5ED"/>
          </a:solidFill>
          <a:ln w="12700">
            <a:solidFill>
              <a:srgbClr val="61E5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004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61E5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 E L I X 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0" y="310896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4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/ 07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950976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5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Sponsors are part of the engine, not stickers.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658368" y="1719072"/>
            <a:ext cx="10607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A4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Durable state, observable agents, and accessible scientific explanations.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6428232"/>
            <a:ext cx="10881360" cy="0"/>
          </a:xfrm>
          <a:prstGeom prst="line">
            <a:avLst/>
          </a:prstGeom>
          <a:noFill/>
          <a:ln w="12700">
            <a:solidFill>
              <a:srgbClr val="2943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649224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30" kern="0" dirty="0">
                <a:solidFill>
                  <a:srgbClr val="A4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LIVING GENOME STUDIO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22376" y="2231136"/>
            <a:ext cx="3621024" cy="2578608"/>
          </a:xfrm>
          <a:prstGeom prst="roundRect">
            <a:avLst>
              <a:gd name="adj" fmla="val 5674"/>
            </a:avLst>
          </a:prstGeom>
          <a:solidFill>
            <a:srgbClr val="112238"/>
          </a:solidFill>
          <a:ln w="12700">
            <a:solidFill>
              <a:srgbClr val="11223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0976" y="2542032"/>
            <a:ext cx="3182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61E5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MongoDB Atlas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950976" y="309981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5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 OF RECORD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50976" y="3547872"/>
            <a:ext cx="3136392" cy="0"/>
          </a:xfrm>
          <a:prstGeom prst="line">
            <a:avLst/>
          </a:prstGeom>
          <a:noFill/>
          <a:ln w="12700">
            <a:solidFill>
              <a:srgbClr val="2943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0976" y="3767328"/>
            <a:ext cx="315468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A4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Genome revisions, harness lineage, simulations, checkpoints, evidence.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590288" y="2231136"/>
            <a:ext cx="3621024" cy="2578608"/>
          </a:xfrm>
          <a:prstGeom prst="roundRect">
            <a:avLst>
              <a:gd name="adj" fmla="val 5674"/>
            </a:avLst>
          </a:prstGeom>
          <a:solidFill>
            <a:srgbClr val="112238"/>
          </a:solidFill>
          <a:ln w="12700">
            <a:solidFill>
              <a:srgbClr val="1122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18888" y="2542032"/>
            <a:ext cx="3182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B79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Raindrop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818888" y="309981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5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OBSERVABILITY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18888" y="3547872"/>
            <a:ext cx="3136392" cy="0"/>
          </a:xfrm>
          <a:prstGeom prst="line">
            <a:avLst/>
          </a:prstGeom>
          <a:noFill/>
          <a:ln w="12700">
            <a:solidFill>
              <a:srgbClr val="2943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18888" y="3767328"/>
            <a:ext cx="315468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A4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 traces, failure investigation, policy-change provenance.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458200" y="2231136"/>
            <a:ext cx="3621024" cy="2578608"/>
          </a:xfrm>
          <a:prstGeom prst="roundRect">
            <a:avLst>
              <a:gd name="adj" fmla="val 5674"/>
            </a:avLst>
          </a:prstGeom>
          <a:solidFill>
            <a:srgbClr val="112238"/>
          </a:solidFill>
          <a:ln w="12700">
            <a:solidFill>
              <a:srgbClr val="1122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0" y="2542032"/>
            <a:ext cx="3182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61E5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ElevenLabs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8686800" y="309981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5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VOICE INTERFACE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686800" y="3547872"/>
            <a:ext cx="3136392" cy="0"/>
          </a:xfrm>
          <a:prstGeom prst="line">
            <a:avLst/>
          </a:prstGeom>
          <a:noFill/>
          <a:ln w="12700">
            <a:solidFill>
              <a:srgbClr val="2943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0" y="3767328"/>
            <a:ext cx="315468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A4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Voice editing/transcription where configured; grounded spoken explanations.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58952" y="5248656"/>
            <a:ext cx="45720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spc="300" kern="0" dirty="0">
                <a:solidFill>
                  <a:srgbClr val="F5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HELIXA</a:t>
            </a:r>
            <a:endParaRPr lang="en-US" sz="3500" dirty="0"/>
          </a:p>
        </p:txBody>
      </p:sp>
      <p:sp>
        <p:nvSpPr>
          <p:cNvPr id="25" name="Text 23"/>
          <p:cNvSpPr/>
          <p:nvPr/>
        </p:nvSpPr>
        <p:spPr>
          <a:xfrm>
            <a:off x="786384" y="5879592"/>
            <a:ext cx="58521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61E5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Explore Life’s Code.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620256" y="5934456"/>
            <a:ext cx="47365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A4B7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Sponsor connections are verified separately; no fabricated live-status claims.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HELIXA — Living Genome Studio</dc:title>
  <dc:subject>Genome editor and proof-carrying evolution sandbox</dc:subject>
  <dc:creator>HELIXA</dc:creator>
  <cp:lastModifiedBy>HELIXA</cp:lastModifiedBy>
  <cp:revision>1</cp:revision>
  <dcterms:created xsi:type="dcterms:W3CDTF">2026-10-11T23:45:00Z</dcterms:created>
  <dcterms:modified xsi:type="dcterms:W3CDTF">2026-10-11T23:45:00Z</dcterms:modified>
</cp:coreProperties>
</file>